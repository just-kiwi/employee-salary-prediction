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lang="en-SG" sz="1300" b="0" i="0" u="none" strike="noStrike">
                <a:solidFill>
                  <a:srgbClr val="1A1A2E"/>
                </a:solidFill>
                <a:latin typeface="Calibri"/>
              </a:rPr>
              <a:t>RMSE by Model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($K, lower is better)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9-4A10-92D9-03256A74A843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9-4A10-92D9-03256A74A843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E9-4A10-92D9-03256A74A84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Random Forest</c:v>
                </c:pt>
                <c:pt idx="2">
                  <c:v>GBT (selected)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19.12</c:v>
                </c:pt>
                <c:pt idx="1">
                  <c:v>20.52</c:v>
                </c:pt>
                <c:pt idx="2">
                  <c:v>18.54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E9-4A10-92D9-03256A74A8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21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26318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26318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&amp; COMPARISON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Development &amp; Career Strategy Recommendations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Singapore salaries with PySpark, and translating the findings into an actionable career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0058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AI &amp; Data Engineering  |  Nanyang Polytechnic  |  AY2026S1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Business User · Project Sponsor · CEO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BRIEFING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7" name="Image 0" descr="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7624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Development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4023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best predicts salary from the survey data — and how confident can we be in it.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7548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across 3 algorithms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 &amp; validation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enables for the organisation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488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6629400" y="25603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4" name="Image 1" descr="icons/briefc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276240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3272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6629400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Strategy Recommendation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629400" y="4023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those findings to a real case: a retrenched 46-year-old mid-careerist.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47548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industry &amp; rationale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 roadmap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feasibility check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Singapore's job-market survey data and build a machine-learning model to predict salary — then translate the findings into practical career guidance.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991,997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records analysed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971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343400" y="31546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26280" y="3886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record: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industry, education,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major, experience, location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971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8138160" y="31546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886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ML models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head-to-head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by a government organisation · conducted by Lafufu 67 Aura Pte Ltd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18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Development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PySpark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Survey Data to a Trained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Feature Engineering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(role, industry, education, major) encoded via StringIndexer → OneHotEncoder. Numeric fields (experience, distance) used directly. Assembled into a 35-dimension feature vector.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rot="5400000">
            <a:off x="4123944" y="3611880"/>
            <a:ext cx="201168" cy="182880"/>
          </a:xfrm>
          <a:prstGeom prst="triangl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4709160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2" name="Image 1" descr="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355" y="24304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Train / Test Split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split, seed fixed for reproducibility: 793,858 rows to train on, 198,139 held back, untouched, purely to test accuracy.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rot="5400000">
            <a:off x="7964424" y="3611880"/>
            <a:ext cx="201168" cy="182880"/>
          </a:xfrm>
          <a:prstGeom prst="triangl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Shape 12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Shape 13"/>
          <p:cNvSpPr/>
          <p:nvPr/>
        </p:nvSpPr>
        <p:spPr>
          <a:xfrm>
            <a:off x="8549640" y="22402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8" name="Image 2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835" y="243047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 Training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54964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regressors trained on identical data: Linear Regression, Random Forest, and Gradient Boosted Trees (GBT).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Boosted Trees Wins on Every Metric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and MAE = smaller average prediction error, in $K. Higher R² = more salary variance explained.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47446453"/>
              </p:ext>
            </p:extLst>
          </p:nvPr>
        </p:nvGraphicFramePr>
        <p:xfrm>
          <a:off x="548640" y="187452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87452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SG" dirty="0"/>
          </a:p>
        </p:txBody>
      </p:sp>
      <p:sp>
        <p:nvSpPr>
          <p:cNvPr id="7" name="Text 4"/>
          <p:cNvSpPr/>
          <p:nvPr/>
        </p:nvSpPr>
        <p:spPr>
          <a:xfrm>
            <a:off x="7498080" y="20574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0.754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498080" y="2743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 explains 75.4% of salary variance — the best of the three models tested.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23760" y="4023360"/>
            <a:ext cx="4389120" cy="2057400"/>
          </a:xfrm>
          <a:prstGeom prst="roundRect">
            <a:avLst>
              <a:gd name="adj" fmla="val 35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7498080" y="4206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$15.14K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98080" y="4800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predictions land within ~$15K of the true salary — the tightest margin of the three models.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9DDE173-0684-D1B4-2550-7F0CC11C9562}"/>
              </a:ext>
            </a:extLst>
          </p:cNvPr>
          <p:cNvSpPr/>
          <p:nvPr/>
        </p:nvSpPr>
        <p:spPr>
          <a:xfrm>
            <a:off x="8243145" y="822116"/>
            <a:ext cx="3840480" cy="352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Mean Absolute Error, Average Error</a:t>
            </a:r>
            <a:endParaRPr lang="en-US" sz="125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84894B1-1923-D092-1566-B6DF349BED6B}"/>
              </a:ext>
            </a:extLst>
          </p:cNvPr>
          <p:cNvSpPr/>
          <p:nvPr/>
        </p:nvSpPr>
        <p:spPr>
          <a:xfrm>
            <a:off x="8243145" y="469902"/>
            <a:ext cx="3840480" cy="352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lnSpc>
                <a:spcPts val="1600"/>
              </a:lnSpc>
            </a:pPr>
            <a:r>
              <a:rPr lang="en-US" sz="125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R², Data Variance</a:t>
            </a:r>
            <a:endParaRPr lang="en-US" sz="125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2BDA2E2-E0C5-0B62-A973-916DA2F8CFD8}"/>
              </a:ext>
            </a:extLst>
          </p:cNvPr>
          <p:cNvSpPr/>
          <p:nvPr/>
        </p:nvSpPr>
        <p:spPr>
          <a:xfrm>
            <a:off x="8033172" y="117688"/>
            <a:ext cx="4050453" cy="352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Root Mean Absolute Error, Penalization for large Errors</a:t>
            </a:r>
            <a:endParaRPr lang="en-US" sz="125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GBT — and Why We Trust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for selection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depends on interactions between categories — a CEO in Oil is not paid the same premium as a CEO in Web. GBT's sequential error-correction (each tree targets the previous ensemble's residuals) captures these interactions, which a single linear equation cannot.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343400"/>
            <a:ext cx="48463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underperformed: with only 6 raw features, its random subsampling per split is too aggressive to consistently learn role/industry/education interactions.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6629400" y="19659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3" name="Image 1" descr="icons/targ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21442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057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Validated, not assumed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29260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trusting one lucky train/test split, GBT was tuned with 3-fold cross-validation across 4 hyperparameter combinations (12 model fits in total).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29400" y="4023360"/>
            <a:ext cx="4663440" cy="1554480"/>
          </a:xfrm>
          <a:prstGeom prst="roundRect">
            <a:avLst>
              <a:gd name="adj" fmla="val 3529"/>
            </a:avLst>
          </a:prstGeom>
          <a:solidFill>
            <a:srgbClr val="26318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3"/>
          <p:cNvSpPr/>
          <p:nvPr/>
        </p:nvSpPr>
        <p:spPr>
          <a:xfrm>
            <a:off x="685800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maxDepth = 5, maxIter = 100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0" y="46177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the original hand-picked settings — confirming they were already near-optimal, now backed by cross-validated evidence.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Enables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5" name="Image 0" descr="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733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salary benchmarking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03911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 fair market salary for any role/industry/education combination in seconds, without a manual survey cycle.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9" name="Image 1" descr="icons/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2872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90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Pay-equity auditing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45643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employees whose actual salary deviates sharply from the model's prediction, for fairness or retention review.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3" name="Image 2" descr="icons/trending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47045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5079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planning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87375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salary budget impact when hiring into a new role, industry, or education tier before committing headcount.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5240" y="169164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2"/>
          <p:cNvSpPr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0956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75.4%</a:t>
            </a:r>
            <a:endParaRPr lang="en-US" sz="4600" dirty="0"/>
          </a:p>
        </p:txBody>
      </p:sp>
      <p:sp>
        <p:nvSpPr>
          <p:cNvPr id="19" name="Text 14"/>
          <p:cNvSpPr/>
          <p:nvPr/>
        </p:nvSpPr>
        <p:spPr>
          <a:xfrm>
            <a:off x="7909560" y="32461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salary variance (</a:t>
            </a:r>
            <a:r>
              <a:rPr lang="en-US" sz="13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explained by role, industry, education, experience and location — within an average $15K margin.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26318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Strategy Recommendation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model's findings to work for a real case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Retrenched Mid-Careerist, Age 46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retrenched from AI &amp; Data Engineering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years in Backend Services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years in Software, AI &amp; Data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salary: $100,000 / year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board games, trading card games, fixing things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6537960" y="192024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icons/dollarsig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20985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baseline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mortgage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92640" y="28346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537960" y="3236976"/>
            <a:ext cx="4754880" cy="0"/>
          </a:xfrm>
          <a:prstGeom prst="line">
            <a:avLst/>
          </a:prstGeom>
          <a:noFill/>
          <a:ln w="9525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2"/>
          <p:cNvSpPr/>
          <p:nvPr/>
        </p:nvSpPr>
        <p:spPr>
          <a:xfrm>
            <a:off x="6537960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household expenditure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692640" y="32918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3694176"/>
            <a:ext cx="4754880" cy="0"/>
          </a:xfrm>
          <a:prstGeom prst="line">
            <a:avLst/>
          </a:prstGeom>
          <a:noFill/>
          <a:ln w="9525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5"/>
          <p:cNvSpPr/>
          <p:nvPr/>
        </p:nvSpPr>
        <p:spPr>
          <a:xfrm>
            <a:off x="653796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annual expenses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92640" y="3749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$102,000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37960" y="4151376"/>
            <a:ext cx="4754880" cy="0"/>
          </a:xfrm>
          <a:prstGeom prst="line">
            <a:avLst/>
          </a:prstGeom>
          <a:noFill/>
          <a:ln w="9525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8"/>
          <p:cNvSpPr/>
          <p:nvPr/>
        </p:nvSpPr>
        <p:spPr>
          <a:xfrm>
            <a:off x="6537960" y="4206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annual salary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692640" y="42062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537960" y="480060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1"/>
          <p:cNvSpPr/>
          <p:nvPr/>
        </p:nvSpPr>
        <p:spPr>
          <a:xfrm>
            <a:off x="6766560" y="49194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$2,000 / year shortfall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766560" y="52395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accounting for a young family's future costs. Salary growth isn't optional — it's necessary.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Into Finance (Fintech)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Finance salary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$100K today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127248"/>
            <a:ext cx="274320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777240" y="32552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highest-paying industry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274320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777240" y="451713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9560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ICT/finance role gap in Singapore (IMDA)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605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4" name="Image 0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764792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46320" y="1572768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demand for real-time data pipelines and ML models in fraud detection, algorithmic trading and risk analytics — exactly where backend + data/AI skills intersect.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6052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7" name="Image 1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78892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2596896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years of backend services experience transfers directly to building the scalable, reliable systems banks and fintechs depend on.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160520" y="3694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0" name="Image 2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381304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621024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fluency (MAS, Basel) combined with two decades of engineering is a rare, valuable pairing, not a generic hire.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160520" y="471830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3" name="Image 3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483717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46320" y="4645152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games and trading-card games reflect the analytical, probabilistic thinking that risk analytics and algorithmic trading reward — a genuine, not superficial, fit.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Skillset Roadmap &amp; Financial Feasibility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Certification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or GCP associate-level, ~2–3 months part-time. SkillsFuture Credit + IMDA's TeSA programme subsidise the cost.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MLOps Project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model with CI/CD on Kubernetes — a concrete portfolio piece for interviews.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8503920" y="1920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85039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Fintech Directly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392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bank / fintech data-platform teams, not generic backend roles.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engineers: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~S$110K, seniors S$150–200K. 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MLOps/AI-ML engineers: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S$105–130K (skillup.sg, 2026).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822960" y="48006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2" name="Image 0" descr="icons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967021"/>
            <a:ext cx="307238" cy="3072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check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645920" y="5029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$141K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1645920" y="5623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salary, Finance/Web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senior-to-VP roles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06240" y="4754880"/>
            <a:ext cx="0" cy="123444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4"/>
          <p:cNvSpPr/>
          <p:nvPr/>
        </p:nvSpPr>
        <p:spPr>
          <a:xfrm>
            <a:off x="4480560" y="4892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+$41,000 / year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480560" y="5440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improvement over current $100K salary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772400" y="4754880"/>
            <a:ext cx="0" cy="123444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7"/>
          <p:cNvSpPr/>
          <p:nvPr/>
        </p:nvSpPr>
        <p:spPr>
          <a:xfrm>
            <a:off x="8046720" y="4892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$27K surplus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046720" y="5440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the conservative Finance industry-wide average ($129K)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26318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Decisions, Backed by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icons/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GBT is the model of record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487168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0.754, MAE = $15.14K, validated by 3-fold cross-validation — ready to support salary benchmarking and workforce planning.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6576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0" name="Image 1" descr="icons/trendingu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38359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6393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is the recommended move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4041648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financially-validated path from a $2K/year shortfall to a $27–41K/year surplus, with a clear 3-step skill roadmap.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5349240"/>
            <a:ext cx="10058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0"/>
          <p:cNvSpPr/>
          <p:nvPr/>
        </p:nvSpPr>
        <p:spPr>
          <a:xfrm>
            <a:off x="822960" y="5532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EGT305 – Big Data Processing Platforms &amp; Applications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1229</Words>
  <Application>Microsoft Office PowerPoint</Application>
  <PresentationFormat>Widescreen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SHUN WEI</cp:lastModifiedBy>
  <cp:revision>5</cp:revision>
  <dcterms:created xsi:type="dcterms:W3CDTF">2026-08-02T06:32:30Z</dcterms:created>
  <dcterms:modified xsi:type="dcterms:W3CDTF">2026-08-02T07:45:19Z</dcterms:modified>
</cp:coreProperties>
</file>